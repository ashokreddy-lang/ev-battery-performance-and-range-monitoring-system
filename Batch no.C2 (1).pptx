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71" r:id="rId13"/>
    <p:sldId id="272" r:id="rId14"/>
    <p:sldId id="264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715B4-C5B3-47C7-A62F-56DC42BD027F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4CCB2-C661-4F95-9C4F-9648FD048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1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E24C-18EC-C187-144F-CB6A38BB6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D9F189-2E5C-EDE0-518E-4FBB99ABCB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C7C1E-C49F-5A04-545D-3C60F869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9EED2-B376-0BA7-8D03-52306516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4A7B8-1D09-3D69-F760-61CF9C7E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5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E31E6-FF3E-4F3B-1172-18FD19994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CAD1D-BB0E-2E58-02F5-1DD4DAD0FA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ABB70-3573-1EE8-39DE-219CF1A8F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DB4CD-6899-F687-EA2D-F5B72953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EF640-B5AA-CBF3-FCFD-B620D70C8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84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4C82-07FE-E26B-5952-70B03616E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F60CFE-B73E-2873-2894-6D3FF9C55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B6439-9728-AC39-E6DC-0675937D2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8487E-7133-3EAB-1E3D-6B8290AA0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A2F87-B457-DBFB-0BBE-F442E9E7E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1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FE2A-5D88-5EE6-8AD7-182AE20A2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DD9F6-1924-793F-08CD-A28BF62D3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B19BF-59A8-373B-604A-0BD80FD73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151533-D092-F52E-5718-BCE5A4E3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3D921-1324-D671-AB75-5A2E24EF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18D2E-D6D5-3748-A4D0-2FBB391C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779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14E0E-DAA3-1517-90F3-51193D9D3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EE9402-88C6-D42D-EFCD-28743A0A1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DE2860-6A98-DCAE-3E55-C9C45A3BA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D2598D-D99D-BD3C-1D96-14F0D3D1A4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0EA5E-9637-12B1-2856-9F9CB406F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9499EB-0E8E-CA6C-9BC1-0752043A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DB321-FF9D-D85B-AD13-D41094D3D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1ADB5-4DC6-B44D-B57C-161A5A57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76B96-6ADF-9A6D-75C8-2CDCE2A5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055230-02F1-F35C-8A37-7E8C0DF0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5CF-37AE-33DC-857B-8FEA88081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F43739-31DE-6E6C-D641-C2A5A424C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36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3D07E-61A9-9FD8-9E32-D4B39797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D1AE6-8A3C-B7F9-A4D4-48B6BC761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57F52-4E88-F210-988B-842950E7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7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97E3-802D-EBAC-F97F-731D58AD0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E0115-00A3-0AF5-CD3C-ACA283978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37149-629F-9044-C0B5-00C904BA11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E0834C-7C86-2399-43E8-A37A40B5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0B9752-CF96-94BE-7193-CF3BC825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7551D1-0920-F2BB-5660-2EDFCF58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681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ECFC-1FAB-77DC-B024-D5BA9A31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E1A991-6110-ED38-4231-1B84F5E16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E49D7-74C4-5306-421B-4A31F8336F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C14B72-2B57-1720-BB9B-163649722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D3F42-6BA4-FBDD-5A25-DAA90D4E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FA14B0-686A-845D-BE88-41FF22E3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17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CE76C-6766-E47E-C6A2-1B78A526B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BBD1B-211D-6BFD-DA1B-2596F4D50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F1F86-A5EB-64FB-CC5A-650760A8A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7958CF-5CA9-E691-5B41-F308EE5E8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7D6ED-E58E-7079-C2C9-585117476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22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C2165-B405-66AF-89C3-57EC58A03F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4C51A6-3422-8159-3F31-F3942D12F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A8FB5-DEB6-76F6-FE8D-627859A27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56C9D-7AE7-60DA-AA36-1744934DA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0F31A-32EA-5534-135D-84F3F72DC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8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BE015B-9E81-C6D2-20AD-F6EF62A74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9C58A-F76E-703B-0DC7-986DD8577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21765-5C83-977D-CEF5-78854C955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E647F8-CF1D-4B3A-9628-8E7E9FAB8ECE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F4649-F3DE-23A2-C2D1-0EE8F875C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534DA-6ADB-6317-4F3E-68FEEEF5A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A4CEE-A709-4C9B-A7BB-CA34C62062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24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ublic.tableau.com/views/Tableau_17718657991890/StoryofElectriccarsinIndia?:language=en-GB&amp;:sid=&amp;:redirect=auth&amp;:display_count=n&amp;:origin=viz_share_link" TargetMode="External"/><Relationship Id="rId2" Type="http://schemas.openxmlformats.org/officeDocument/2006/relationships/hyperlink" Target="https://public.tableau.com/views/EVBatteryPerformanceandRangeMonitoringSystem/EvDashBoard?:language=en-GB&amp;:sid=&amp;:redirect=auth&amp;:display_count=n&amp;:origin=viz_share_link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ijirset.com/upload/2026/march/237_EV%20Battery%20Performance%20and%20Range.pdf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404D1-6797-9C3D-D8B6-37D4570E3375}"/>
              </a:ext>
            </a:extLst>
          </p:cNvPr>
          <p:cNvSpPr txBox="1">
            <a:spLocks/>
          </p:cNvSpPr>
          <p:nvPr/>
        </p:nvSpPr>
        <p:spPr>
          <a:xfrm>
            <a:off x="172720" y="50800"/>
            <a:ext cx="11948160" cy="138176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87220" indent="-1433195">
              <a:lnSpc>
                <a:spcPct val="150000"/>
              </a:lnSpc>
              <a:spcBef>
                <a:spcPts val="1390"/>
              </a:spcBef>
            </a:pPr>
            <a:r>
              <a:rPr lang="en-US" sz="3100" b="1" dirty="0">
                <a:solidFill>
                  <a:srgbClr val="FF0000"/>
                </a:solidFill>
              </a:rPr>
              <a:t>              </a:t>
            </a:r>
            <a:r>
              <a:rPr lang="en-US" sz="2700" b="1" dirty="0">
                <a:solidFill>
                  <a:srgbClr val="FF0000"/>
                </a:solidFill>
              </a:rPr>
              <a:t>KALLAM  HARANADHAREDDY  INSTITUTE OF TECHNOLOGY (AUTONOMOUS)</a:t>
            </a:r>
            <a:br>
              <a:rPr lang="en-US" sz="2400" b="1" dirty="0">
                <a:solidFill>
                  <a:srgbClr val="FF0000"/>
                </a:solidFill>
              </a:rPr>
            </a:b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Approved</a:t>
            </a:r>
            <a:r>
              <a:rPr lang="en-US" sz="1800" b="1" spc="20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800" b="1" spc="385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(AICTE,</a:t>
            </a:r>
            <a:r>
              <a:rPr lang="en-US" sz="1800" b="1" spc="39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en-US" sz="1800" b="1" spc="20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Delhi;</a:t>
            </a:r>
            <a:r>
              <a:rPr lang="en-US" sz="1800" b="1" spc="385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Permanently</a:t>
            </a:r>
            <a:r>
              <a:rPr lang="en-US" sz="1800" b="1" spc="39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Affiliated</a:t>
            </a:r>
            <a:r>
              <a:rPr lang="en-US" sz="1800" b="1" spc="20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b="1" spc="20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JNTU</a:t>
            </a:r>
            <a:r>
              <a:rPr lang="en-US" sz="1800" b="1" spc="385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KAKINADA) Accredited by </a:t>
            </a:r>
            <a:b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NAAC with an ‘A’ Grade NH</a:t>
            </a:r>
            <a:r>
              <a:rPr lang="en-US" sz="1800" b="1" spc="-85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z="1800" b="1" spc="-8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16,</a:t>
            </a:r>
            <a:r>
              <a:rPr lang="en-US" sz="1800" b="1" spc="-8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Chowdavaram,</a:t>
            </a:r>
            <a:r>
              <a:rPr lang="en-US" sz="1800" b="1" spc="-8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Guntur</a:t>
            </a:r>
            <a:r>
              <a:rPr lang="en-US" sz="1800" b="1" spc="-85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–</a:t>
            </a:r>
            <a:r>
              <a:rPr lang="en-US" sz="1800" b="1" spc="-85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522019</a:t>
            </a:r>
            <a:r>
              <a:rPr lang="en-US" sz="1800" b="1" spc="-80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(A.P)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B25B16-506F-EAE2-5BFA-1608E2BC11F9}"/>
              </a:ext>
            </a:extLst>
          </p:cNvPr>
          <p:cNvSpPr txBox="1">
            <a:spLocks/>
          </p:cNvSpPr>
          <p:nvPr/>
        </p:nvSpPr>
        <p:spPr>
          <a:xfrm>
            <a:off x="4226560" y="1596130"/>
            <a:ext cx="3743959" cy="61347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project presentation</a:t>
            </a:r>
          </a:p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US"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68891B-5990-1CBE-9651-1B993C3ED881}"/>
              </a:ext>
            </a:extLst>
          </p:cNvPr>
          <p:cNvSpPr txBox="1"/>
          <p:nvPr/>
        </p:nvSpPr>
        <p:spPr>
          <a:xfrm>
            <a:off x="599440" y="2209610"/>
            <a:ext cx="109931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 Battery Performance and Range Monitoring System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0FD9B-61FE-CBBB-E26F-2085D42F6B67}"/>
              </a:ext>
            </a:extLst>
          </p:cNvPr>
          <p:cNvSpPr txBox="1"/>
          <p:nvPr/>
        </p:nvSpPr>
        <p:spPr>
          <a:xfrm>
            <a:off x="2753360" y="3019361"/>
            <a:ext cx="648208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Batch No. - C2/ Section: C </a:t>
            </a:r>
          </a:p>
          <a:p>
            <a:pPr algn="ctr"/>
            <a:r>
              <a:rPr lang="en-US" dirty="0"/>
              <a:t>A. Ashok Reddy                      (228X1A42F0)</a:t>
            </a:r>
          </a:p>
          <a:p>
            <a:pPr algn="ctr"/>
            <a:r>
              <a:rPr lang="en-US" dirty="0"/>
              <a:t> N. Sarveswar Reddy             (228X1A42G2)</a:t>
            </a:r>
          </a:p>
          <a:p>
            <a:pPr algn="ctr"/>
            <a:r>
              <a:rPr lang="en-US" dirty="0"/>
              <a:t> S.Nagalakshmi                       (228X1A42G9)</a:t>
            </a:r>
          </a:p>
          <a:p>
            <a:pPr algn="ctr"/>
            <a:r>
              <a:rPr lang="en-US" dirty="0"/>
              <a:t>V. Kamal keerthan                 (228X1A42E4)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CA281-8238-22E8-5F6E-BBFC72898250}"/>
              </a:ext>
            </a:extLst>
          </p:cNvPr>
          <p:cNvSpPr txBox="1"/>
          <p:nvPr/>
        </p:nvSpPr>
        <p:spPr>
          <a:xfrm>
            <a:off x="2651760" y="4734994"/>
            <a:ext cx="6888480" cy="2393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en-US" sz="2000" b="1" dirty="0">
                <a:solidFill>
                  <a:srgbClr val="ED7D31">
                    <a:lumMod val="50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 </a:t>
            </a: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Dr.A.S.Kanaka Ratnam</a:t>
            </a:r>
            <a:r>
              <a:rPr lang="en-IN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M.</a:t>
            </a: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E.,M.</a:t>
            </a:r>
            <a:r>
              <a:rPr kumimoji="0" lang="en-US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Tech, Ph.D</a:t>
            </a:r>
            <a:endParaRPr lang="en-US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10000"/>
              </a:lnSpc>
              <a:spcBef>
                <a:spcPts val="0"/>
              </a:spcBef>
              <a:buNone/>
              <a:defRPr/>
            </a:pPr>
            <a:r>
              <a:rPr lang="en-US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</a:t>
            </a: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&amp; MACHINE LEARNING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>
              <a:lnSpc>
                <a:spcPct val="110000"/>
              </a:lnSpc>
              <a:defRPr/>
            </a:pPr>
            <a:endParaRPr lang="en-US" altLang="en-US" sz="1800" b="1" dirty="0">
              <a:solidFill>
                <a:srgbClr val="ED7D31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lang="en-US" altLang="en-US" sz="1800" b="1" dirty="0">
              <a:solidFill>
                <a:srgbClr val="ED7D31">
                  <a:lumMod val="50000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4FD3D340-05EB-E30E-00C0-69A9B6C47B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56"/>
            <a:ext cx="1615439" cy="141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00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5CE75EB-9223-0E3D-CD48-FDC3BD604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393471"/>
              </p:ext>
            </p:extLst>
          </p:nvPr>
        </p:nvGraphicFramePr>
        <p:xfrm>
          <a:off x="726440" y="610711"/>
          <a:ext cx="10419080" cy="60037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854">
                  <a:extLst>
                    <a:ext uri="{9D8B030D-6E8A-4147-A177-3AD203B41FA5}">
                      <a16:colId xmlns:a16="http://schemas.microsoft.com/office/drawing/2014/main" val="1451744078"/>
                    </a:ext>
                  </a:extLst>
                </a:gridCol>
                <a:gridCol w="6865429">
                  <a:extLst>
                    <a:ext uri="{9D8B030D-6E8A-4147-A177-3AD203B41FA5}">
                      <a16:colId xmlns:a16="http://schemas.microsoft.com/office/drawing/2014/main" val="1788428668"/>
                    </a:ext>
                  </a:extLst>
                </a:gridCol>
                <a:gridCol w="2596797">
                  <a:extLst>
                    <a:ext uri="{9D8B030D-6E8A-4147-A177-3AD203B41FA5}">
                      <a16:colId xmlns:a16="http://schemas.microsoft.com/office/drawing/2014/main" val="3339329076"/>
                    </a:ext>
                  </a:extLst>
                </a:gridCol>
              </a:tblGrid>
              <a:tr h="1139247">
                <a:tc gridSpan="3">
                  <a:txBody>
                    <a:bodyPr/>
                    <a:lstStyle/>
                    <a:p>
                      <a:pPr algn="ctr"/>
                      <a:r>
                        <a:rPr lang="en-US" sz="3200" dirty="0">
                          <a:solidFill>
                            <a:srgbClr val="7030A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OUTLINE OF PRESENTATION</a:t>
                      </a:r>
                    </a:p>
                    <a:p>
                      <a:pPr algn="ctr"/>
                      <a:endParaRPr lang="en-US" sz="2400" dirty="0">
                        <a:solidFill>
                          <a:srgbClr val="7030A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3730066"/>
                  </a:ext>
                </a:extLst>
              </a:tr>
              <a:tr h="12127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 Number</a:t>
                      </a:r>
                    </a:p>
                    <a:p>
                      <a:pPr algn="ctr"/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472362"/>
                  </a:ext>
                </a:extLst>
              </a:tr>
              <a:tr h="56131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ABSTRACT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41091"/>
                  </a:ext>
                </a:extLst>
              </a:tr>
              <a:tr h="561313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SURVEY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206611"/>
                  </a:ext>
                </a:extLst>
              </a:tr>
              <a:tr h="108097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AND IMPLEMENTATION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687948"/>
                  </a:ext>
                </a:extLst>
              </a:tr>
              <a:tr h="108097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  <a:p>
                      <a:pPr algn="ctr">
                        <a:lnSpc>
                          <a:spcPct val="200000"/>
                        </a:lnSpc>
                      </a:pPr>
                      <a:endParaRPr 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</a:pPr>
                      <a:r>
                        <a:rPr lang="en-US" sz="20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 OF PROJECT</a:t>
                      </a:r>
                    </a:p>
                    <a:p>
                      <a:pPr>
                        <a:lnSpc>
                          <a:spcPct val="200000"/>
                        </a:lnSpc>
                      </a:pPr>
                      <a:endParaRPr lang="en-US" sz="20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1663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79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421D3-4357-0397-879E-428E45E14F01}"/>
              </a:ext>
            </a:extLst>
          </p:cNvPr>
          <p:cNvSpPr txBox="1"/>
          <p:nvPr/>
        </p:nvSpPr>
        <p:spPr>
          <a:xfrm>
            <a:off x="1229360" y="1178560"/>
            <a:ext cx="961136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“EV Battery Performance and Range Monitoring System”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developed to analyze EV charging behavior and driving range using datasets from India and global sources.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examines the relationship between battery capacity, charging patterns, vehicle efficiency, and range performance through data-driven analysis.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involves data cleaning, preprocessing, and trend identification to understand variations in EV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are created to display key metrics such as charging time, battery performance, energy consumption, and range efficiency.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reduce range anxiety, improve trip planning, and support informed decision-making for EV users, researchers, and policymakers.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Indexed Words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Electric Vehicles (EV), Charge Analysis, Range Analysis, Data Visualization, Battery Performance, Energy Consumption, Dashboard Analytics, Data Insights.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6A60C-BF2F-2DB5-67D5-65F5AAE3A961}"/>
              </a:ext>
            </a:extLst>
          </p:cNvPr>
          <p:cNvSpPr txBox="1"/>
          <p:nvPr/>
        </p:nvSpPr>
        <p:spPr>
          <a:xfrm>
            <a:off x="4566920" y="436781"/>
            <a:ext cx="2631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89217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F24A7F-7071-BB3C-9FED-052EF825F79B}"/>
              </a:ext>
            </a:extLst>
          </p:cNvPr>
          <p:cNvSpPr txBox="1"/>
          <p:nvPr/>
        </p:nvSpPr>
        <p:spPr>
          <a:xfrm>
            <a:off x="2275840" y="230220"/>
            <a:ext cx="660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385371-4027-66CE-E6B8-C7B247CCC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88055"/>
              </p:ext>
            </p:extLst>
          </p:nvPr>
        </p:nvGraphicFramePr>
        <p:xfrm>
          <a:off x="20320" y="1230284"/>
          <a:ext cx="12103009" cy="4746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083">
                  <a:extLst>
                    <a:ext uri="{9D8B030D-6E8A-4147-A177-3AD203B41FA5}">
                      <a16:colId xmlns:a16="http://schemas.microsoft.com/office/drawing/2014/main" val="1411810753"/>
                    </a:ext>
                  </a:extLst>
                </a:gridCol>
                <a:gridCol w="4828378">
                  <a:extLst>
                    <a:ext uri="{9D8B030D-6E8A-4147-A177-3AD203B41FA5}">
                      <a16:colId xmlns:a16="http://schemas.microsoft.com/office/drawing/2014/main" val="2493841144"/>
                    </a:ext>
                  </a:extLst>
                </a:gridCol>
                <a:gridCol w="4455548">
                  <a:extLst>
                    <a:ext uri="{9D8B030D-6E8A-4147-A177-3AD203B41FA5}">
                      <a16:colId xmlns:a16="http://schemas.microsoft.com/office/drawing/2014/main" val="2342758352"/>
                    </a:ext>
                  </a:extLst>
                </a:gridCol>
              </a:tblGrid>
              <a:tr h="111678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069656"/>
                  </a:ext>
                </a:extLst>
              </a:tr>
              <a:tr h="111678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al., 2020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 energy consumption depends on driving conditions, battery, and environment. Data-driven models improve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 of integrated visualization combining multiple EV parameters.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3876495"/>
                  </a:ext>
                </a:extLst>
              </a:tr>
              <a:tr h="74977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Aduama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Multi-feature data improves EV charging prediction accuracy.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prediction models; limited visual analysis tools.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2786370"/>
                  </a:ext>
                </a:extLst>
              </a:tr>
              <a:tr h="889489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Al-Dahabreh et al.,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analytics helps analyze charging station performance.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 are complex and lack user-friendly dashboards.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451596"/>
                  </a:ext>
                </a:extLst>
              </a:tr>
              <a:tr h="873747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Energy Journal Study,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Optimization methods improve charging scheduling and efficiency.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interactive tools for charge and range visualization.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4113997"/>
                  </a:ext>
                </a:extLst>
              </a:tr>
            </a:tbl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530C125-A442-065C-8108-D14DE8FD6DE7}"/>
              </a:ext>
            </a:extLst>
          </p:cNvPr>
          <p:cNvCxnSpPr>
            <a:cxnSpLocks/>
          </p:cNvCxnSpPr>
          <p:nvPr/>
        </p:nvCxnSpPr>
        <p:spPr>
          <a:xfrm flipH="1">
            <a:off x="4257040" y="753440"/>
            <a:ext cx="369824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245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C5E2CA-0EA0-7EF0-C72E-ADA233695D80}"/>
              </a:ext>
            </a:extLst>
          </p:cNvPr>
          <p:cNvSpPr txBox="1"/>
          <p:nvPr/>
        </p:nvSpPr>
        <p:spPr>
          <a:xfrm>
            <a:off x="0" y="-43"/>
            <a:ext cx="1219200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</a:t>
            </a:r>
            <a:r>
              <a:rPr lang="en-US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GAPS </a:t>
            </a:r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35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5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447DCA-FF42-8260-7C81-100675D4C19C}"/>
              </a:ext>
            </a:extLst>
          </p:cNvPr>
          <p:cNvSpPr txBox="1"/>
          <p:nvPr/>
        </p:nvSpPr>
        <p:spPr>
          <a:xfrm>
            <a:off x="1235777" y="1684251"/>
            <a:ext cx="91172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visualization using multiple EV datasets.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interactive tools for charge and range analysis.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focus more on prediction than visualization.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user-friendly dashboards for data interpretation.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combined analysis of charging, range, and efficiency factors.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604E0-2E04-C3C0-C619-20422C22971B}"/>
              </a:ext>
            </a:extLst>
          </p:cNvPr>
          <p:cNvSpPr txBox="1"/>
          <p:nvPr/>
        </p:nvSpPr>
        <p:spPr>
          <a:xfrm>
            <a:off x="2087345" y="878179"/>
            <a:ext cx="663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RESEARCHED GAPS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613D1-C417-6D60-8DAC-CA98369F4DE3}"/>
              </a:ext>
            </a:extLst>
          </p:cNvPr>
          <p:cNvSpPr txBox="1"/>
          <p:nvPr/>
        </p:nvSpPr>
        <p:spPr>
          <a:xfrm>
            <a:off x="1235777" y="4396547"/>
            <a:ext cx="91172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Visualization helps in easy understanding of EV charging and range behavior.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  EV range depends on multiple charging and environmental parameters.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  Data analysis improves battery performance monitoring and trip planning.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  Dashboard visualization helps compare EV performance effectively.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 Machine learning and analytics help in early detection of charging issues.</a:t>
            </a:r>
          </a:p>
          <a:p>
            <a:endParaRPr lang="en-US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5EBC082-595B-D6C2-102B-4175871609EB}"/>
              </a:ext>
            </a:extLst>
          </p:cNvPr>
          <p:cNvCxnSpPr>
            <a:cxnSpLocks/>
          </p:cNvCxnSpPr>
          <p:nvPr/>
        </p:nvCxnSpPr>
        <p:spPr>
          <a:xfrm>
            <a:off x="10963174" y="128016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E03B2EA-BD42-9ADC-B149-433E13853DFE}"/>
              </a:ext>
            </a:extLst>
          </p:cNvPr>
          <p:cNvSpPr txBox="1"/>
          <p:nvPr/>
        </p:nvSpPr>
        <p:spPr>
          <a:xfrm>
            <a:off x="3416968" y="3641178"/>
            <a:ext cx="3869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PROPOSED INSIGHTS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C46AA3-A2DE-690C-D54D-86009E7F719C}"/>
              </a:ext>
            </a:extLst>
          </p:cNvPr>
          <p:cNvCxnSpPr>
            <a:cxnSpLocks/>
          </p:cNvCxnSpPr>
          <p:nvPr/>
        </p:nvCxnSpPr>
        <p:spPr>
          <a:xfrm>
            <a:off x="3921760" y="4060762"/>
            <a:ext cx="3241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3AF0774-7118-8925-083F-01DF263609AC}"/>
              </a:ext>
            </a:extLst>
          </p:cNvPr>
          <p:cNvCxnSpPr>
            <a:cxnSpLocks/>
          </p:cNvCxnSpPr>
          <p:nvPr/>
        </p:nvCxnSpPr>
        <p:spPr>
          <a:xfrm flipH="1">
            <a:off x="3830320" y="1306567"/>
            <a:ext cx="31597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8854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139472-553B-9870-9460-B9D3441219D8}"/>
              </a:ext>
            </a:extLst>
          </p:cNvPr>
          <p:cNvSpPr txBox="1"/>
          <p:nvPr/>
        </p:nvSpPr>
        <p:spPr>
          <a:xfrm>
            <a:off x="3243714" y="433137"/>
            <a:ext cx="86531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ARCHITETURE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DA97C9B-4D28-D9F7-4188-C502E0160C67}"/>
              </a:ext>
            </a:extLst>
          </p:cNvPr>
          <p:cNvCxnSpPr>
            <a:cxnSpLocks/>
          </p:cNvCxnSpPr>
          <p:nvPr/>
        </p:nvCxnSpPr>
        <p:spPr>
          <a:xfrm>
            <a:off x="3362960" y="1017912"/>
            <a:ext cx="550672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35CAFE4-2D11-00B1-F0ED-0050C470231B}"/>
              </a:ext>
            </a:extLst>
          </p:cNvPr>
          <p:cNvSpPr txBox="1"/>
          <p:nvPr/>
        </p:nvSpPr>
        <p:spPr>
          <a:xfrm>
            <a:off x="1371600" y="1395662"/>
            <a:ext cx="882904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 → Data Preprocessing → Data Analysis → Tableau Visualization → Insights &amp; Reports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transformation of raw data into meaningful insights.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9E194C9A-8A15-745D-CA02-D2EE7A24FE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A diagram of a diagram and a cloud&#10;&#10;AI-generated content may be incorrect.">
            <a:extLst>
              <a:ext uri="{FF2B5EF4-FFF2-40B4-BE49-F238E27FC236}">
                <a16:creationId xmlns:a16="http://schemas.microsoft.com/office/drawing/2014/main" id="{A75A5A7E-0AEF-C9DC-8B18-787B32F9DD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8879" y="2990600"/>
            <a:ext cx="9547649" cy="280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16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26501A-4703-537B-14B4-2BC5FD9C6779}"/>
              </a:ext>
            </a:extLst>
          </p:cNvPr>
          <p:cNvSpPr txBox="1"/>
          <p:nvPr/>
        </p:nvSpPr>
        <p:spPr>
          <a:xfrm>
            <a:off x="1493520" y="462280"/>
            <a:ext cx="895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IMPLEMENTATION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C4F497D-256D-C3C7-6661-0B0E1128B915}"/>
              </a:ext>
            </a:extLst>
          </p:cNvPr>
          <p:cNvCxnSpPr>
            <a:cxnSpLocks/>
          </p:cNvCxnSpPr>
          <p:nvPr/>
        </p:nvCxnSpPr>
        <p:spPr>
          <a:xfrm>
            <a:off x="2733040" y="1047055"/>
            <a:ext cx="64719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41D34AC-D7EE-CA06-E062-D0916014DFB7}"/>
              </a:ext>
            </a:extLst>
          </p:cNvPr>
          <p:cNvSpPr txBox="1"/>
          <p:nvPr/>
        </p:nvSpPr>
        <p:spPr>
          <a:xfrm>
            <a:off x="843280" y="1747521"/>
            <a:ext cx="105867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designed to analyze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(EV) datasets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battery performance and predict driving range.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datasets containing parameters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capacity, charging time, energy consumption, and vehicle range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collected and stored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format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performed using Python libraries to clean the data, handle missing values, and select important features.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applied to analyze EV parameters and predict driving range and battery performance.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created to visualize EV charging behavior, energy consumption, and range performance.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system integrates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analytics, machine learning, and visualization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meaningful insights into EV performance.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A6BFBB41-3040-7480-547B-3D79EA6851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dashboards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created to visualize EV charging behavior, energy consumption, and range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6">
            <a:extLst>
              <a:ext uri="{FF2B5EF4-FFF2-40B4-BE49-F238E27FC236}">
                <a16:creationId xmlns:a16="http://schemas.microsoft.com/office/drawing/2014/main" id="{01B982B0-2D61-874E-3CA3-6A3CDCC45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720294"/>
            <a:ext cx="117652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59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71D874-BC93-7425-F901-A1990E8B5397}"/>
              </a:ext>
            </a:extLst>
          </p:cNvPr>
          <p:cNvSpPr txBox="1"/>
          <p:nvPr/>
        </p:nvSpPr>
        <p:spPr>
          <a:xfrm>
            <a:off x="4312920" y="208280"/>
            <a:ext cx="2717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BC1BA14-F80F-4E19-0430-0C282E37A3CE}"/>
              </a:ext>
            </a:extLst>
          </p:cNvPr>
          <p:cNvCxnSpPr>
            <a:cxnSpLocks/>
          </p:cNvCxnSpPr>
          <p:nvPr/>
        </p:nvCxnSpPr>
        <p:spPr>
          <a:xfrm>
            <a:off x="4511040" y="701615"/>
            <a:ext cx="23571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93FF6EC-E53A-3481-69A8-B31C155C6088}"/>
              </a:ext>
            </a:extLst>
          </p:cNvPr>
          <p:cNvSpPr txBox="1"/>
          <p:nvPr/>
        </p:nvSpPr>
        <p:spPr>
          <a:xfrm>
            <a:off x="762000" y="1368530"/>
            <a:ext cx="4165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049E5-550E-D22C-CA4B-FB6BE818BC5C}"/>
              </a:ext>
            </a:extLst>
          </p:cNvPr>
          <p:cNvSpPr txBox="1"/>
          <p:nvPr/>
        </p:nvSpPr>
        <p:spPr>
          <a:xfrm flipH="1">
            <a:off x="762000" y="1806093"/>
            <a:ext cx="102514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 Dashboard Public link :</a:t>
            </a:r>
            <a:r>
              <a:rPr lang="en-US" sz="2000" dirty="0"/>
              <a:t>   </a:t>
            </a:r>
            <a:r>
              <a:rPr lang="en-US" sz="2000" b="0" i="0" u="sng" dirty="0">
                <a:solidFill>
                  <a:srgbClr val="0070C0"/>
                </a:solidFill>
                <a:effectLst/>
                <a:latin typeface="-apple-syste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https://public.tableau.com/views/EVBatteryPerformanceandRangeMonitoringSystem/EvDashBoard?:language=en-GB&amp;:sid=&amp;:redirect=auth&amp;:display_count=n&amp;:origin=viz_share_link</a:t>
            </a:r>
            <a:endParaRPr lang="en-US" sz="2000" dirty="0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EC8D83-EA59-C184-9202-BCF20EE4BB69}"/>
              </a:ext>
            </a:extLst>
          </p:cNvPr>
          <p:cNvSpPr txBox="1"/>
          <p:nvPr/>
        </p:nvSpPr>
        <p:spPr>
          <a:xfrm>
            <a:off x="762000" y="3627122"/>
            <a:ext cx="2296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000" dirty="0"/>
          </a:p>
          <a:p>
            <a:pPr algn="just"/>
            <a:r>
              <a:rPr lang="en-US" sz="2000" u="sng" dirty="0">
                <a:solidFill>
                  <a:srgbClr val="4493F8"/>
                </a:solidFill>
                <a:latin typeface="-apple-system"/>
              </a:rPr>
              <a:t>          </a:t>
            </a:r>
            <a:br>
              <a:rPr lang="en-US" sz="2000" b="0" i="0" dirty="0">
                <a:solidFill>
                  <a:srgbClr val="F0F6FC"/>
                </a:solidFill>
                <a:effectLst/>
                <a:latin typeface="-apple-system"/>
              </a:rPr>
            </a:b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0E0EED-4151-221C-F50D-C63DABF7E6C3}"/>
              </a:ext>
            </a:extLst>
          </p:cNvPr>
          <p:cNvSpPr txBox="1"/>
          <p:nvPr/>
        </p:nvSpPr>
        <p:spPr>
          <a:xfrm>
            <a:off x="721360" y="2886544"/>
            <a:ext cx="20929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story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740F5B-4A08-898B-AEE5-F6AD9BC6FCD5}"/>
              </a:ext>
            </a:extLst>
          </p:cNvPr>
          <p:cNvSpPr txBox="1"/>
          <p:nvPr/>
        </p:nvSpPr>
        <p:spPr>
          <a:xfrm>
            <a:off x="721360" y="3286654"/>
            <a:ext cx="10464799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 Dashboard Public link :</a:t>
            </a:r>
            <a:r>
              <a:rPr lang="en-US" sz="2000" b="1" i="0" dirty="0">
                <a:solidFill>
                  <a:srgbClr val="F0F6F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2000" b="0" i="0" u="sng" dirty="0">
                <a:solidFill>
                  <a:srgbClr val="0070C0"/>
                </a:solidFill>
                <a:effectLst/>
                <a:latin typeface="-apple-syste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https://public.tableau.com/views/Tableau_17718657991890/StoryofElectriccarsinIndia?:language=en-GB&amp;:sid=&amp;:redirect=auth&amp;:display_count=n&amp;:origin=viz_share_link</a:t>
            </a:r>
            <a:endParaRPr lang="en-US" sz="2000" b="0" i="0" dirty="0">
              <a:solidFill>
                <a:srgbClr val="0070C0"/>
              </a:solidFill>
              <a:effectLst/>
              <a:latin typeface="-apple-system"/>
            </a:endParaRPr>
          </a:p>
          <a:p>
            <a:br>
              <a:rPr lang="en-US" sz="2000" b="0" i="0" dirty="0">
                <a:solidFill>
                  <a:srgbClr val="F0F6FC"/>
                </a:solidFill>
                <a:effectLst/>
                <a:latin typeface="-apple-system"/>
              </a:rPr>
            </a:br>
            <a:endParaRPr lang="en-US" sz="2000" dirty="0"/>
          </a:p>
          <a:p>
            <a:pPr algn="l"/>
            <a:r>
              <a:rPr lang="en-US" b="0" i="0" u="sng" dirty="0">
                <a:solidFill>
                  <a:srgbClr val="4493F8"/>
                </a:solidFill>
                <a:effectLst/>
                <a:latin typeface="-apple-system"/>
                <a:hlinkClick r:id="rId3"/>
              </a:rPr>
              <a:t>       </a:t>
            </a:r>
            <a:br>
              <a:rPr lang="en-US" b="0" i="0" dirty="0">
                <a:solidFill>
                  <a:srgbClr val="F0F6FC"/>
                </a:solidFill>
                <a:effectLst/>
                <a:latin typeface="-apple-system"/>
              </a:rPr>
            </a:b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E9B6B0-46A0-555B-90AB-B3BC394E089A}"/>
              </a:ext>
            </a:extLst>
          </p:cNvPr>
          <p:cNvSpPr txBox="1"/>
          <p:nvPr/>
        </p:nvSpPr>
        <p:spPr>
          <a:xfrm>
            <a:off x="767079" y="4581229"/>
            <a:ext cx="102463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Publication:</a:t>
            </a:r>
          </a:p>
          <a:p>
            <a:r>
              <a:rPr lang="en-US" sz="2000" b="0" i="0" u="none" strike="noStrike" dirty="0">
                <a:solidFill>
                  <a:srgbClr val="0070C0"/>
                </a:solidFill>
                <a:effectLst/>
                <a:latin typeface="open_sansregula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10.15680/IJIRSET.2026.1503237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8213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EFC395-01BB-5A7E-A961-99B21F05AF9F}"/>
              </a:ext>
            </a:extLst>
          </p:cNvPr>
          <p:cNvSpPr txBox="1"/>
          <p:nvPr/>
        </p:nvSpPr>
        <p:spPr>
          <a:xfrm>
            <a:off x="152400" y="86360"/>
            <a:ext cx="1044448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Integration: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 page </a:t>
            </a:r>
            <a:endParaRPr lang="en-US" sz="20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58F1CF-674B-F6C6-7609-D6C67C19EB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" y="978912"/>
            <a:ext cx="11968480" cy="579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62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791404-0697-627E-0395-79518ED30C1C}"/>
              </a:ext>
            </a:extLst>
          </p:cNvPr>
          <p:cNvSpPr txBox="1"/>
          <p:nvPr/>
        </p:nvSpPr>
        <p:spPr>
          <a:xfrm>
            <a:off x="59266" y="0"/>
            <a:ext cx="121327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for range and Efficiency Prediction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Linear Regression  and Random Forest machine learning model is implemented using the Scikit-learn library to predict the electric range  and efficiency of vehicles based on available features. This predictive model helps estimate the expected performance of electric vehicles.</a:t>
            </a:r>
          </a:p>
          <a:p>
            <a:endParaRPr lang="en-US" sz="2000" b="1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F5015A9-5B4A-7489-3FAB-294D2EBC5D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20" y="1280160"/>
            <a:ext cx="6868160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49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00C709-4521-A68E-0646-C1E8F0ACEBF8}"/>
              </a:ext>
            </a:extLst>
          </p:cNvPr>
          <p:cNvSpPr txBox="1"/>
          <p:nvPr/>
        </p:nvSpPr>
        <p:spPr>
          <a:xfrm>
            <a:off x="1015999" y="499533"/>
            <a:ext cx="8974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 the given input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7AE024-FE27-EC3F-1835-93DC493FCE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0" y="1219200"/>
            <a:ext cx="1032256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201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D41EB1-3A59-2F4E-76A1-F23BB97E7740}"/>
              </a:ext>
            </a:extLst>
          </p:cNvPr>
          <p:cNvSpPr txBox="1"/>
          <p:nvPr/>
        </p:nvSpPr>
        <p:spPr>
          <a:xfrm>
            <a:off x="81280" y="0"/>
            <a:ext cx="70307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different factors of Electrical vehicles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3EFE1F4-8145-169A-5264-3ADCC1D93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0110"/>
            <a:ext cx="12192000" cy="645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8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05D0E-9E8D-AA5E-08FF-A2EE9960C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" y="1036320"/>
            <a:ext cx="11871960" cy="57505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B34F7F-3A4A-ED1F-EEBD-E249B646A9D5}"/>
              </a:ext>
            </a:extLst>
          </p:cNvPr>
          <p:cNvSpPr txBox="1"/>
          <p:nvPr/>
        </p:nvSpPr>
        <p:spPr>
          <a:xfrm>
            <a:off x="167640" y="238760"/>
            <a:ext cx="6431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different electrical vehicle cars</a:t>
            </a:r>
          </a:p>
        </p:txBody>
      </p:sp>
    </p:spTree>
    <p:extLst>
      <p:ext uri="{BB962C8B-B14F-4D97-AF65-F5344CB8AC3E}">
        <p14:creationId xmlns:p14="http://schemas.microsoft.com/office/powerpoint/2010/main" val="4022516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3742099-6528-5531-0023-3DB555665CFF}"/>
              </a:ext>
            </a:extLst>
          </p:cNvPr>
          <p:cNvSpPr txBox="1"/>
          <p:nvPr/>
        </p:nvSpPr>
        <p:spPr>
          <a:xfrm>
            <a:off x="4592320" y="177800"/>
            <a:ext cx="2651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           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2BBADE0-7DD9-41AE-B86F-7A543007E864}"/>
              </a:ext>
            </a:extLst>
          </p:cNvPr>
          <p:cNvCxnSpPr>
            <a:cxnSpLocks/>
          </p:cNvCxnSpPr>
          <p:nvPr/>
        </p:nvCxnSpPr>
        <p:spPr>
          <a:xfrm flipH="1">
            <a:off x="4714240" y="1280160"/>
            <a:ext cx="209296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D5A0670C-7CCC-C885-A453-7B0C03002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875" y="2886219"/>
            <a:ext cx="9148205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786BD8D-74F7-784D-2798-C34E9AA2A0E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235242" y="1813173"/>
            <a:ext cx="9721516" cy="32316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Analyzes electric vehicle charging and range data using multiple datasets to       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ain meaningful insights.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Studies key parameters such as charging levels, battery state, energy consumption, and vehicle range.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pplies data preprocessing and analytical techniques to identify patterns and  trends in EV performance.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Uses interactive visualizations and dashboards to simplify complex data for better understanding.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efficient trip planning, improved charging awareness, and provides a base for future predictive EV monitoring systems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46948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DBB260-F889-644C-BC87-AE4247EB46F9}"/>
              </a:ext>
            </a:extLst>
          </p:cNvPr>
          <p:cNvSpPr txBox="1"/>
          <p:nvPr/>
        </p:nvSpPr>
        <p:spPr>
          <a:xfrm>
            <a:off x="1953928" y="2644170"/>
            <a:ext cx="77002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chemeClr val="bg2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4074639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971</Words>
  <Application>Microsoft Office PowerPoint</Application>
  <PresentationFormat>Widescreen</PresentationFormat>
  <Paragraphs>132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-apple-system</vt:lpstr>
      <vt:lpstr>Aptos</vt:lpstr>
      <vt:lpstr>Aptos Display</vt:lpstr>
      <vt:lpstr>Arial</vt:lpstr>
      <vt:lpstr>Calibri</vt:lpstr>
      <vt:lpstr>open_sansregular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Ashok Reddy</dc:creator>
  <cp:lastModifiedBy>Ashok Reddy</cp:lastModifiedBy>
  <cp:revision>3</cp:revision>
  <dcterms:created xsi:type="dcterms:W3CDTF">2026-03-11T15:50:09Z</dcterms:created>
  <dcterms:modified xsi:type="dcterms:W3CDTF">2026-04-26T02:07:38Z</dcterms:modified>
</cp:coreProperties>
</file>